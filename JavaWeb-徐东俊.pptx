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各位好，这一页我们来深入了解 JavaWeb 开发中不可或缺的技术组件——C3P0 数据库连接池。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首先，我们用一个生活化的比喻来理解 C3P0：它就像是餐厅里的“厨师团队”。如果没有连接池，每次用户请求都要新建数据库连接，就像为每个顾客重建厨房，成本极高。而 C3P0 预先在内存中创建好一组连接，像厨师一样随时待命，用完即还，实现了高效的资源复用。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为什么在众多连接池中选择 C3P0？主要有四大核心优势：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第一是性能，它消除了连接创建的昂贵开销，显著提升响应速度。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第二是资源管理，通过配置参数动态伸缩连接数，防止资源耗尽。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第三是稳定性，内置的健康检查机制能自动剔除坏连接，保障业务稳定。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第四是兼容性，它与 Hibernate、Spring 等主流框架无缝集成，是企业级应用的成熟选择。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各位，这一页我们来深入解析 C3P0 最核心的配置文件：c3p0-config.xml。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首先，为什么需要这个文件？它最大的价值在于实现了配置与代码的解耦。我们不再需要在 Java 代码中硬编码数据库的 URL、用户名密码或连接池大小，而是通过这个文件集中管理。请注意，这个文件必须放在项目的类路径下，也就是 src 根目录，这样 C3P0 容器在启动时才能自动扫描并加载。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核心配置项分为三个维度：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第一是基础连接参数，如 driverClass 和 jdbcUrl，这是建立数据库连接的基础。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第二是池容量管控，通过 initialPoolSize、maxPoolSize 和 minPoolSize 来控制连接池的资源占用。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第三是动态扩容，acquireIncrement 决定了当连接不够用时，一次性申请多少新连接，这对系统的吞吐量有直接影响。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页面下方是一个标准的 MySQL 8.x 配置示例，大家可以看到，所有的关键参数都在 &lt;default-config&gt; 块中定义，这也是最常用的默认配置方式。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各位同学，接下来我们进入核心工具类的学习，也就是 JdbcUtils.java。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在传统的 JDBC 开发中，每次操作数据库都需要手动加载驱动、创建连接、处理异常，这不仅代码冗余，而且频繁创建和关闭物理连接会带来巨大的性能开销。因此，我们通常会封装一个 JdbcUtils 工具类来统一管理这些操作。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大家请看屏幕上的代码实现。这个类的核心在于利用 C3P0 的 ComboPooledDataSource 来初始化连接池。关键点有三个：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第一，数据源初始化。ComboPooledDataSource 会自动读取配置文件，建立数据库连接池。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第二，获取连接。getConnection 方法实际上是从连接池中取出一个空闲连接，而不是新建连接，这非常轻量。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第三，资源释放。这里的 close 方法并不是真正关闭物理连接，而是将连接归还给连接池，让其他请求可以复用。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掌握这个工具类的设计，是我们后续开发高效、稳定的 Java Web 应用的重要基础。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各位同学，这一页我们进入实战环节，来看看如何在实际项目中使用C3P0连接池完成数据库的更新操作。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整个实战案例分为两个核心部分：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部分是数据访问层，也就是UserDao。在这个类中，我们封装了最核心的updateUser方法。大家可以看到代码中，我们不再是每次都新建Connection，而是通过JdbcUtils工具类从C3P0池中获取连接。执行完SQL更新操作后，最重要的一步是在finally块中释放资源，把连接归还给连接池，这是连接池高效运作的关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第二部分是业务逻辑层，也就是UpdateServlet。它的职责非常明确：接收前端传过来的参数，调用DAO层的方法，然后根据执行结果给用户一个反馈。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这种设计模式的好处是显而易见的：首先是性能上，连接复用减少了开销；其次是安全上，资源的闭环管理避免了泄漏；最后是架构上，清晰的分层让我们的代码更容易维护和扩展。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各位好，这一页我们进入Java Web开发中至关重要的环节——依赖管理，重点讲解如何使用Maven和pom.xml配置C3P0相关组件。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在现代Java开发中，Maven是我们不可或缺的工具。它的核心作用就是帮助我们自动化地管理项目所需的各种Jar包依赖。当我们要使用C3P0连接池时，不需要手动去官网下载Jar包再复制到项目中，只需要在pom.xml里进行简单的配置即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核心配置主要包含三个部分：第一是C3P0的核心依赖，第二是MySQL的JDBC驱动，第三是如果是Web项目则需要的Servlet API。特别是Servlet API，我们通常将其scope设置为provided，因为这个包最终会由Tomcat等Web容器提供，不需要打包到我们的应用中。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通过这种方式，我们不仅能保证依赖版本的一致性，还能极大地简化开发流程，让我们专注于业务逻辑的实现。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各位，这一页我们通过核心维度的对比，来直观感受C3P0连接池相比传统JDBC直连的巨大优势。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首先看连接机制，传统JDBC每次都要新建物理连接，就像每次用水都要挖一口新井，成本极高；而C3P0是预先蓄水，随用随取。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在资源性能上，传统方式在高并发下极易出现系统抖动和响应延迟，而C3P0通过复用和管理，大幅提升了吞吐量。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最后在开发运维上，硬编码和手动管理不仅繁琐，还容易引发严重的连接泄漏；C3P0的配置化和自动化机制则有效规避了这些风险。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因此，在现代Java Web开发中，引入成熟的连接池技术是提升系统稳定性和开发效率的关键一步。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各位，现在我们来到本次分享的最后一部分：总结与最佳实践。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C3P0作为Java生态中一款经典且成熟的数据库连接池，其核心价值在于通过连接复用机制，极大地降低了频繁创建和销毁连接带来的性能损耗。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我们回顾一下核心要点：它的核心思想是连接复用；核心组件是ComboPooledDataSource和配置文件；标准流程是初始化、获取、执行、归还；而带来的优势则是性能、稳定性和开发效率的三重提升。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实际开发中，我强烈建议大家遵循这五项最佳实践：第一，根据业务场景合理配置参数；第二，封装通用工具类以减少冗余；第三，始终使用PreparedStatement保障安全与效率；第四，严格在finally块中关闭资源防止泄漏；第五，持续监控以动态调优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掌握这些内容，将帮助大家构建出更健壮、高效的JavaWeb应用。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206500"/>
          </a:xfrm>
          <a:prstGeom prst="roundRect">
            <a:avLst>
              <a:gd name="adj" fmla="val 0"/>
            </a:avLst>
          </a:prstGeom>
          <a:solidFill>
            <a:srgbClr val="0A246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317500" y="127000"/>
            <a:ext cx="11557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JavaWeb数据库连接池：C3P0全景技术指南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17500" y="660400"/>
            <a:ext cx="1155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4C8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从原理、配置到实战的分布式数据库连接管理最佳实践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17500" y="1397000"/>
            <a:ext cx="5651500" cy="2095500"/>
          </a:xfrm>
          <a:prstGeom prst="roundRect">
            <a:avLst>
              <a:gd name="adj" fmla="val 0"/>
            </a:avLst>
          </a:prstGeom>
          <a:solidFill>
            <a:srgbClr val="E2ED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317500" y="1397000"/>
            <a:ext cx="50800" cy="2095500"/>
          </a:xfrm>
          <a:prstGeom prst="roundRect">
            <a:avLst>
              <a:gd name="adj" fmla="val 0"/>
            </a:avLst>
          </a:prstGeom>
          <a:solidFill>
            <a:srgbClr val="EA58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08000" y="1460500"/>
            <a:ext cx="520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A24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通俗理解：餐厅后厨的“厨师待命制”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08000" y="1905000"/>
            <a:ext cx="53975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果把数据库比作热门餐厅，每次用户请求都新建数据库连接就像为每个顾客重建厨房，效率极低。C3P0就像提前组建好的厨师团队（连接池），厨师（连接）始终待命。顾客（请求）到店直接分配厨师服务，服务结束后厨师回到团队而非离职，避免了重复招聘和培训的巨大成本，这正是连接池“复用”的核心价值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159500" y="1397000"/>
            <a:ext cx="5651500" cy="2095500"/>
          </a:xfrm>
          <a:prstGeom prst="roundRect">
            <a:avLst>
              <a:gd name="adj" fmla="val 0"/>
            </a:avLst>
          </a:prstGeom>
          <a:solidFill>
            <a:srgbClr val="E6F4F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159500" y="1397000"/>
            <a:ext cx="50800" cy="2095500"/>
          </a:xfrm>
          <a:prstGeom prst="roundRect">
            <a:avLst>
              <a:gd name="adj" fmla="val 0"/>
            </a:avLst>
          </a:prstGeom>
          <a:solidFill>
            <a:srgbClr val="0596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350000" y="1460500"/>
            <a:ext cx="520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64E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技术本质：内存中的连接蓄水池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0" y="1905000"/>
            <a:ext cx="53975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3P0是一个开源的JDBC连接池标准实现，它在应用启动时预先创建一组数据库物理连接并保存在内存中。当业务代码需要操作数据库时，直接从池中“借用”可用连接；使用完毕后并非真正关闭TCP连接，而是将其“归还”池中供后续复用。这种机制将数据库操作的性能损耗降到了最低，是企业级Java应用的标配技术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17500" y="3619500"/>
            <a:ext cx="11493500" cy="508000"/>
          </a:xfrm>
          <a:prstGeom prst="roundRect">
            <a:avLst>
              <a:gd name="adj" fmla="val 0"/>
            </a:avLst>
          </a:prstGeom>
          <a:solidFill>
            <a:srgbClr val="0A2463">
              <a:alpha val="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44500" y="3644900"/>
            <a:ext cx="1117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A24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核心竞争力：C3P0 超越原生JDBC的四大关键优势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17500" y="4318000"/>
            <a:ext cx="2730500" cy="2095500"/>
          </a:xfrm>
          <a:prstGeom prst="roundRect">
            <a:avLst>
              <a:gd name="adj" fmla="val 0"/>
            </a:avLst>
          </a:prstGeom>
          <a:solidFill>
            <a:srgbClr val="EBF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317500" y="4318000"/>
            <a:ext cx="2730500" cy="381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44500" y="4419600"/>
            <a:ext cx="2476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零开销的复用机制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44500" y="4889500"/>
            <a:ext cx="2476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彻底避免了TCP三次握手、权限校验等昂贵的连接创建过程。在高并发场景下，能将单次数据库操作的响应延迟从毫秒级压缩至微秒级。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44500" y="5778500"/>
            <a:ext cx="2476500" cy="508000"/>
          </a:xfrm>
          <a:prstGeom prst="roundRect">
            <a:avLst>
              <a:gd name="adj" fmla="val 0"/>
            </a:avLst>
          </a:prstGeom>
          <a:solidFill>
            <a:srgbClr val="3B82F6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482600" y="58039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D4ED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核心：高并发下的性能基石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238500" y="4318000"/>
            <a:ext cx="2730500" cy="2095500"/>
          </a:xfrm>
          <a:prstGeom prst="roundRect">
            <a:avLst>
              <a:gd name="adj" fmla="val 0"/>
            </a:avLst>
          </a:prstGeom>
          <a:solidFill>
            <a:srgbClr val="FFF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3238500" y="4318000"/>
            <a:ext cx="2730500" cy="381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3365500" y="4419600"/>
            <a:ext cx="2476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弹性资源伸缩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3365500" y="4889500"/>
            <a:ext cx="2476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支持配置初始连接数、最大活跃数与最大空闲时间。系统可根据流量潮汐自动增减活跃连接，防止连接泄漏导致的数据库资源枯竭。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3365500" y="5778500"/>
            <a:ext cx="2476500" cy="508000"/>
          </a:xfrm>
          <a:prstGeom prst="roundRect">
            <a:avLst>
              <a:gd name="adj" fmla="val 0"/>
            </a:avLst>
          </a:prstGeom>
          <a:solidFill>
            <a:srgbClr val="F97316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3403600" y="58039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核心：可控的资源天花板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159500" y="4318000"/>
            <a:ext cx="2730500" cy="2095500"/>
          </a:xfrm>
          <a:prstGeom prst="roundRect">
            <a:avLst>
              <a:gd name="adj" fmla="val 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159500" y="4318000"/>
            <a:ext cx="27305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6286500" y="4419600"/>
            <a:ext cx="2476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熔断式健康检查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286500" y="4889500"/>
            <a:ext cx="2476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提供连接有效性测试（TestOnBorrow），自动剔除超时或无效连接。配合连接回收机制，确保业务获取的始终是可用的数据库会话。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286500" y="5778500"/>
            <a:ext cx="2476500" cy="508000"/>
          </a:xfrm>
          <a:prstGeom prst="roundRect">
            <a:avLst>
              <a:gd name="adj" fmla="val 0"/>
            </a:avLst>
          </a:prstGeom>
          <a:solidFill>
            <a:srgbClr val="10B981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6324600" y="58039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478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核心：生产环境的零故障保障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9080500" y="4318000"/>
            <a:ext cx="2730500" cy="2095500"/>
          </a:xfrm>
          <a:prstGeom prst="roundRect">
            <a:avLst>
              <a:gd name="adj" fmla="val 0"/>
            </a:avLst>
          </a:prstGeom>
          <a:solidFill>
            <a:srgbClr val="F5F3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9080500" y="4318000"/>
            <a:ext cx="2730500" cy="381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9207500" y="4419600"/>
            <a:ext cx="2476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C1D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生态无缝兼容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9207500" y="4889500"/>
            <a:ext cx="2476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作为经典的JDBC连接池，它是Hibernate的默认数据源实现，同时完美适配Spring、MyBatis等主流框架，极大降低了项目的技术集成成本。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9207500" y="5778500"/>
            <a:ext cx="2476500" cy="508000"/>
          </a:xfrm>
          <a:prstGeom prst="roundRect">
            <a:avLst>
              <a:gd name="adj" fmla="val 0"/>
            </a:avLst>
          </a:prstGeom>
          <a:solidFill>
            <a:srgbClr val="8B5CF6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9245600" y="58039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6D28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核心：成熟的企业级标准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79500"/>
          </a:xfrm>
          <a:prstGeom prst="roundRect">
            <a:avLst>
              <a:gd name="adj" fmla="val 0"/>
            </a:avLst>
          </a:prstGeom>
          <a:solidFill>
            <a:srgbClr val="0B5ED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381000" y="1524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2.1 C3P0核心配置文件：c3p0-config.xml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81000" y="1206500"/>
            <a:ext cx="11557000" cy="1079500"/>
          </a:xfrm>
          <a:prstGeom prst="roundRect">
            <a:avLst>
              <a:gd name="adj" fmla="val 0"/>
            </a:avLst>
          </a:prstGeom>
          <a:solidFill>
            <a:srgbClr val="EAF5FF">
              <a:alpha val="100000"/>
            </a:srgbClr>
          </a:solidFill>
          <a:ln w="12700" cap="flat" cmpd="sng">
            <a:solidFill>
              <a:srgbClr val="BAE1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71500" y="1295400"/>
            <a:ext cx="1117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C3P0的核心优势在于通过外部配置文件实现参数的集中化管理，彻底避免硬编码带来的维护难题。`c3p0-config.xml` 必须放置在项目类路径（src根目录）下，容器启动时会自动加载。通过该文件可灵活定义数据库连接规则、连接池生命周期及资源分配策略，是企业级应用中实现数据库连接池解耦的关键方案。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81000" y="2413000"/>
            <a:ext cx="3746500" cy="2095500"/>
          </a:xfrm>
          <a:prstGeom prst="roundRect">
            <a:avLst>
              <a:gd name="adj" fmla="val 0"/>
            </a:avLst>
          </a:prstGeom>
          <a:solidFill>
            <a:srgbClr val="F0F9FF">
              <a:alpha val="100000"/>
            </a:srgbClr>
          </a:solidFill>
          <a:ln w="12700" cap="flat" cmpd="sng">
            <a:solidFill>
              <a:srgbClr val="7DD3F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381000" y="2413000"/>
            <a:ext cx="3746500" cy="457200"/>
          </a:xfrm>
          <a:prstGeom prst="roundRect">
            <a:avLst>
              <a:gd name="adj" fmla="val 0"/>
            </a:avLst>
          </a:prstGeom>
          <a:solidFill>
            <a:srgbClr val="06B6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508000" y="2438400"/>
            <a:ext cx="3492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基础连接核心参数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82600" y="2921000"/>
            <a:ext cx="355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驱动与地址：</a:t>
            </a: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`driverClass` 指定JDBC驱动全类名（如MySQL 8.x的cj驱动）；`jdbcUrl` 定义数据库的网络连接串，包含主机、端口与库名。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身份认证：</a:t>
            </a: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`user` 和 `password` 配置数据库的访问凭据，这是建立TCP连接的基础身份验证信息。</a:t>
            </a:r>
            <a:endParaRPr lang="en-US" sz="12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343400" y="2413000"/>
            <a:ext cx="3746500" cy="2095500"/>
          </a:xfrm>
          <a:prstGeom prst="roundRect">
            <a:avLst>
              <a:gd name="adj" fmla="val 0"/>
            </a:avLst>
          </a:prstGeom>
          <a:solidFill>
            <a:srgbClr val="F0F7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43400" y="2413000"/>
            <a:ext cx="3746500" cy="457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470400" y="2438400"/>
            <a:ext cx="3492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连接池容量策略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445000" y="2921000"/>
            <a:ext cx="355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初始化与极值：</a:t>
            </a: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`initialPoolSize` 是启动时创建的初始连接数；`maxPoolSize` 限制了连接池的上限，防止资源耗尽；`minPoolSize` 维持核心空闲连接以应对突发请求。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资源平衡：</a:t>
            </a: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合理设置容量可避免频繁创建/销毁连接的开销，同时防止数据库连接数过载。</a:t>
            </a:r>
            <a:endParaRPr lang="en-US" sz="12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293100" y="2413000"/>
            <a:ext cx="3746500" cy="2095500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DBA7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293100" y="2413000"/>
            <a:ext cx="3746500" cy="4572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420100" y="2438400"/>
            <a:ext cx="3492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动态扩容机制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94700" y="2921000"/>
            <a:ext cx="355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增量配置：</a:t>
            </a: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`acquireIncrement` 定义当现有连接全部被占用时，连接池一次性向数据库申请的新连接数量。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效率优化：</a:t>
            </a: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批量扩容减少了网络IO的次数，在高并发场景下能显著提升响应速度，同时避免单次扩容过小导致的频繁申请。</a:t>
            </a:r>
            <a:endParaRPr lang="en-US" sz="12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381000" y="4635500"/>
            <a:ext cx="11658600" cy="1968500"/>
          </a:xfrm>
          <a:prstGeom prst="roundRect">
            <a:avLst>
              <a:gd name="adj" fmla="val 0"/>
            </a:avLst>
          </a:prstGeom>
          <a:solidFill>
            <a:srgbClr val="2D37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381000" y="4635500"/>
            <a:ext cx="11658600" cy="355600"/>
          </a:xfrm>
          <a:prstGeom prst="roundRect">
            <a:avLst>
              <a:gd name="adj" fmla="val 0"/>
            </a:avLst>
          </a:prstGeom>
          <a:solidFill>
            <a:srgbClr val="4755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508000" y="4648200"/>
            <a:ext cx="1016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配置实战：MySQL 8.x 环境下的 &lt;default-config&gt; 核心片段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08000" y="5080000"/>
            <a:ext cx="558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&lt;default-config&gt;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&lt;property name="driverClass"&gt;</a:t>
            </a:r>
            <a:r>
              <a:rPr lang="en-US" sz="1200" b="0" i="0" u="none" strike="noStrike">
                <a:solidFill>
                  <a:srgbClr val="F472B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com.mysql.cj.jdbc.Driver</a:t>
            </a:r>
            <a:r>
              <a:rPr lang="en-US" sz="12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&lt;/property&gt;</a:t>
            </a:r>
            <a:endParaRPr lang="en-US" sz="1200" b="0" i="0" u="none" strike="noStrike">
              <a:solidFill>
                <a:srgbClr val="94A3B8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&lt;property name="jdbcUrl"&gt;</a:t>
            </a:r>
            <a:r>
              <a:rPr lang="en-US" sz="1200" b="0" i="0" u="none" strike="noStrike">
                <a:solidFill>
                  <a:srgbClr val="A7F3D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jdbc:mysql://localhost:3306/mydb?useSSL=false&amp;serverTimezone=UTC</a:t>
            </a:r>
            <a:r>
              <a:rPr lang="en-US" sz="12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&lt;/property&gt;</a:t>
            </a:r>
            <a:endParaRPr lang="en-US" sz="1200" b="0" i="0" u="none" strike="noStrike">
              <a:solidFill>
                <a:srgbClr val="94A3B8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cxnSp>
        <p:nvCxnSpPr>
          <p:cNvPr id="22" name="Connector 22"/>
          <p:cNvCxnSpPr/>
          <p:nvPr/>
        </p:nvCxnSpPr>
        <p:spPr>
          <a:xfrm rot="5367260">
            <a:off x="5556250" y="5740430"/>
            <a:ext cx="133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75569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350000" y="5080000"/>
            <a:ext cx="546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&lt;property name="user"&gt;</a:t>
            </a:r>
            <a:r>
              <a:rPr lang="en-US" sz="1200" b="0" i="0" u="none" strike="noStrike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root</a:t>
            </a:r>
            <a:r>
              <a:rPr lang="en-US" sz="12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&lt;/property&gt;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&lt;property name="password"&gt;</a:t>
            </a:r>
            <a:r>
              <a:rPr lang="en-US" sz="1200" b="0" i="0" u="none" strike="noStrike">
                <a:solidFill>
                  <a:srgbClr val="FDBA7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root</a:t>
            </a:r>
            <a:r>
              <a:rPr lang="en-US" sz="12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&lt;/property&gt;</a:t>
            </a:r>
            <a:endParaRPr lang="en-US" sz="1200" b="0" i="0" u="none" strike="noStrike">
              <a:solidFill>
                <a:srgbClr val="94A3B8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&lt;property name="initialPoolSize"&gt;5&lt;/property&gt;  &lt;property name="maxPoolSize"&gt;20&lt;/property&gt;</a:t>
            </a:r>
            <a:endParaRPr lang="en-US" sz="1200" b="0" i="0" u="none" strike="noStrike">
              <a:solidFill>
                <a:srgbClr val="94A3B8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&lt;/default-config&gt;</a:t>
            </a:r>
            <a:endParaRPr lang="en-US" sz="1200" b="0" i="0" u="none" strike="noStrike">
              <a:solidFill>
                <a:srgbClr val="94A3B8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381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563EB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2.2 核心工具类：JdbcUtils.java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143000"/>
            <a:ext cx="11176000" cy="952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1143000"/>
            <a:ext cx="76200" cy="9525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206500"/>
            <a:ext cx="1079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在Java Web项目开发中，数据库连接的管理是核心基础。我们通过封装JdbcUtils工具类，实现对C3P0数据源的统一初始化与管理，对外提供标准化的连接获取和资源释放静态方法。这不仅简化了业务代码中重复的数据库操作逻辑，更通过连接池技术大幅提升了系统的运行效率与资源利用率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2286000"/>
            <a:ext cx="6604000" cy="2794000"/>
          </a:xfrm>
          <a:prstGeom prst="roundRect">
            <a:avLst>
              <a:gd name="adj" fmla="val 0"/>
            </a:avLst>
          </a:prstGeom>
          <a:solidFill>
            <a:srgbClr val="282C3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08000" y="2286000"/>
            <a:ext cx="6604000" cy="406400"/>
          </a:xfrm>
          <a:prstGeom prst="roundRect">
            <a:avLst>
              <a:gd name="adj" fmla="val 0"/>
            </a:avLst>
          </a:prstGeom>
          <a:solidFill>
            <a:srgbClr val="373C4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35000" y="2311400"/>
            <a:ext cx="609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ABB2B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JdbcUtils.java / Core Implementation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" y="2794000"/>
            <a:ext cx="6350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C678D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private static final ComboPooledDataSource dataSource = new ComboPooledDataSource();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ABB2B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获取连接：从C3P0池中获取，轻量级操作</a:t>
            </a:r>
            <a:endParaRPr lang="en-US" sz="1100" b="0" i="0" u="none" strike="noStrike">
              <a:solidFill>
                <a:srgbClr val="ABB2B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1AFE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public static Connection getConnection() throws SQLException { return dataSource.getConnection(); }</a:t>
            </a:r>
            <a:endParaRPr lang="en-US" sz="1100" b="0" i="0" u="none" strike="noStrike">
              <a:solidFill>
                <a:srgbClr val="61AFE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ABB2B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释放资源：归还连接至池，而非物理关闭</a:t>
            </a:r>
            <a:endParaRPr lang="en-US" sz="1100" b="0" i="0" u="none" strike="noStrike">
              <a:solidFill>
                <a:srgbClr val="ABB2B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1AFE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public static void close(Connection conn, PreparedStatement pstmt, ResultSet rs) {</a:t>
            </a:r>
            <a:endParaRPr lang="en-US" sz="1100" b="0" i="0" u="none" strike="noStrike">
              <a:solidFill>
                <a:srgbClr val="61AFE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ABB2B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try { if (rs != null) rs.close(); } catch (Exception e) { e.printStackTrace(); }</a:t>
            </a:r>
            <a:endParaRPr lang="en-US" sz="1100" b="0" i="0" u="none" strike="noStrike">
              <a:solidFill>
                <a:srgbClr val="ABB2B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ABB2B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try { if (pstmt != null) pstmt.close(); if (conn != null) conn.close(); } catch (Exception e) {}</a:t>
            </a:r>
            <a:endParaRPr lang="en-US" sz="1100" b="0" i="0" u="none" strike="noStrike">
              <a:solidFill>
                <a:srgbClr val="ABB2B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1AFE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100" b="0" i="0" u="none" strike="noStrike">
              <a:solidFill>
                <a:srgbClr val="61AFE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366000" y="2286000"/>
            <a:ext cx="4445000" cy="1333500"/>
          </a:xfrm>
          <a:prstGeom prst="roundRect">
            <a:avLst>
              <a:gd name="adj" fmla="val 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366000" y="2286000"/>
            <a:ext cx="50800" cy="1333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556500" y="2349500"/>
            <a:ext cx="406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4E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核心基石：C3P0 数据源初始化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556500" y="2730500"/>
            <a:ext cx="412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441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ComboPooledDataSource是连接池的核心载体，初始化时自动加载类路径下的c3p0-config.xml配置文件，创建并维护数据库物理连接的缓冲池，避免重复创建开销。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366000" y="3683000"/>
            <a:ext cx="4445000" cy="1333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366000" y="3683000"/>
            <a:ext cx="50800" cy="1333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556500" y="3746500"/>
            <a:ext cx="406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高效复用：getConnection() 机制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556500" y="4127500"/>
            <a:ext cx="412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该方法并非每次创建新的物理连接，而是从连接池中获取可用的空闲连接。这是一种轻量级操作，能显著提升高并发场景下的数据库响应速度，减少TCP握手与认证耗时。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08000" y="5270500"/>
            <a:ext cx="11303000" cy="1270000"/>
          </a:xfrm>
          <a:prstGeom prst="roundRect">
            <a:avLst>
              <a:gd name="adj" fmla="val 0"/>
            </a:avLst>
          </a:prstGeom>
          <a:solidFill>
            <a:srgbClr val="FFFB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508000" y="5270500"/>
            <a:ext cx="63500" cy="12700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98500" y="5359400"/>
            <a:ext cx="1079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4530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设计价值与最佳实践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98500" y="5715000"/>
            <a:ext cx="1079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92400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dbcUtils工具类将底层数据库连接的复杂性进行了抽象封装，实现了“一次编写，处处复用”。通过将close()方法设计为连接归还操作，彻底改变了传统JDBC“每次使用每次创建关闭”的低效模式。这种模式是企业级应用开发中标准的数据访问层（DAO）基础，为后续业务代码的稳定性和可维护性打下了坚实基础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381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2.3 实战应用：使用C3P0进行数据库更新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143000"/>
            <a:ext cx="11176000" cy="8890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98500" y="1206500"/>
            <a:ext cx="1079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章节通过完整的工程化案例，演示基于C3P0连接池执行数据库UPDATE操作的核心流程。我们将数据访问逻辑封装在独立的UserDao类中，通过Servlet处理前端请求并调用业务方法，不仅实现了用户信息的动态修改，更体现了连接池复用与分层开发的最佳实践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2159000"/>
            <a:ext cx="5588000" cy="2921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08000" y="2159000"/>
            <a:ext cx="5588000" cy="457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35000" y="2184400"/>
            <a:ext cx="533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数据访问层：UserDao.java (核心CRUD封装)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" y="2730500"/>
            <a:ext cx="5334000" cy="12065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98500" y="2768600"/>
            <a:ext cx="520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public int updateUser(int id, String newName) {</a:t>
            </a:r>
            <a:br>
              <a:rPr lang="en-US" sz="11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1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Connection conn = JdbcUtils.getConnection(); // 池化连接获取</a:t>
            </a:r>
            <a:br>
              <a:rPr lang="en-US" sz="11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1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String sql = "UPDATE users SET name = ? WHERE id = ?";</a:t>
            </a:r>
            <a:br>
              <a:rPr lang="en-US" sz="11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1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pstmt = conn.prepareStatement(sql);</a:t>
            </a:r>
            <a:br>
              <a:rPr lang="en-US" sz="11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1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affectedRows = pstmt.executeUpdate(); // 执行更新</a:t>
            </a:r>
            <a:br>
              <a:rPr lang="en-US" sz="11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1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JdbcUtils.close(conn, pstmt); // 归还连接</a:t>
            </a:r>
            <a:br>
              <a:rPr lang="en-US" sz="11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1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return affectedRows;</a:t>
            </a:r>
            <a:r>
              <a:rPr lang="en-US" sz="1100" b="0" i="0" u="none" strike="noStrike">
                <a:solidFill>
                  <a:srgbClr val="10B98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返回受影响行数</a:t>
            </a:r>
            <a:br>
              <a:rPr lang="en-US" sz="11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1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" y="4064000"/>
            <a:ext cx="5334000" cy="952500"/>
          </a:xfrm>
          <a:prstGeom prst="roundRect">
            <a:avLst>
              <a:gd name="adj" fmla="val 0"/>
            </a:avLst>
          </a:prstGeom>
          <a:solidFill>
            <a:srgbClr val="BFDBFE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4127500"/>
            <a:ext cx="5080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关键动作：</a:t>
            </a: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从工具类获取C3P0连接而非新建物理连接；使用PreparedStatement防止SQL注入；在finally块中必须执行资源释放，确保数据库连接被及时归还到连接池中，避免资源耗尽。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5385053">
            <a:off x="4762500" y="3613164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350000" y="2159000"/>
            <a:ext cx="5588000" cy="2921000"/>
          </a:xfrm>
          <a:prstGeom prst="roundRect">
            <a:avLst>
              <a:gd name="adj" fmla="val 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350000" y="2159000"/>
            <a:ext cx="5588000" cy="457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77000" y="2184400"/>
            <a:ext cx="533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业务逻辑层：UpdateServlet.java (请求处理)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77000" y="2730500"/>
            <a:ext cx="5334000" cy="12065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540500" y="2768600"/>
            <a:ext cx="520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@WebServlet("/updateUser")</a:t>
            </a:r>
            <a:r>
              <a:rPr lang="en-US" sz="1100" b="0" i="0" u="none" strike="noStrike">
                <a:solidFill>
                  <a:srgbClr val="F472B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注解映射URL</a:t>
            </a:r>
            <a:br>
              <a:rPr lang="en-US" sz="11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1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 userId = Integer.parseInt(request.getParameter("id"));</a:t>
            </a:r>
            <a:br>
              <a:rPr lang="en-US" sz="11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1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UserDao dao = new UserDao();</a:t>
            </a:r>
            <a:r>
              <a:rPr lang="en-US" sz="1100" b="0" i="0" u="none" strike="noStrike">
                <a:solidFill>
                  <a:srgbClr val="F472B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实例化数据访问对象</a:t>
            </a:r>
            <a:br>
              <a:rPr lang="en-US" sz="11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1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 res = dao.updateUser(userId, newName);</a:t>
            </a:r>
            <a:br>
              <a:rPr lang="en-US" sz="11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1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response.getWriter().write(res &gt; 0 ?</a:t>
            </a:r>
            <a:r>
              <a:rPr lang="en-US" sz="1100" b="0" i="0" u="none" strike="noStrike">
                <a:solidFill>
                  <a:srgbClr val="10B98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"更新成功"</a:t>
            </a:r>
            <a:r>
              <a:rPr lang="en-US" sz="11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</a:t>
            </a:r>
            <a:r>
              <a:rPr lang="en-US" sz="1100" b="0" i="0" u="none" strike="noStrike">
                <a:solidFill>
                  <a:srgbClr val="EF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"更新失败"</a:t>
            </a:r>
            <a:r>
              <a:rPr lang="en-US" sz="1100" b="0" i="0" u="none" strike="noStrike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);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4064000"/>
            <a:ext cx="5334000" cy="952500"/>
          </a:xfrm>
          <a:prstGeom prst="roundRect">
            <a:avLst>
              <a:gd name="adj" fmla="val 0"/>
            </a:avLst>
          </a:prstGeom>
          <a:solidFill>
            <a:srgbClr val="A7F3D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604000" y="4127500"/>
            <a:ext cx="5080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流程解耦：</a:t>
            </a: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Servlet专注于HTTP协议解析、参数提取与响应构建；业务逻辑与底层数据操作通过UserDao解耦。这种模式不仅便于维护，还能在后续开发中灵活替换数据源实现。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08000" y="5270500"/>
            <a:ext cx="11430000" cy="1397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571500" y="5397500"/>
            <a:ext cx="3683000" cy="1143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98500" y="5435600"/>
            <a:ext cx="342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性能提升：连接复用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98500" y="5778500"/>
            <a:ext cx="342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避免了频繁创建和销毁物理连接的高昂开销，C3P0维护的连接池在高并发场景下能显著提升系统吞吐量与响应速度。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381500" y="5397500"/>
            <a:ext cx="3683000" cy="11430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4508500" y="5435600"/>
            <a:ext cx="342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稳健运行：资源闭环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508500" y="5778500"/>
            <a:ext cx="342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严格遵循“谁获取谁释放”原则，通过finally块确保连接、Statement等关键资源被正确释放，防止数据库连接泄漏导致的服务不可用。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191500" y="5397500"/>
            <a:ext cx="3683000" cy="1143000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8318500" y="5435600"/>
            <a:ext cx="342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A58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开发规范：职责单一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318500" y="5778500"/>
            <a:ext cx="342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DAO层只负责与数据库的交互，Servlet层处理Web请求与响应，清晰的分层降低了代码耦合度，是企业级JavaWeb应用的标准开发范式。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7559999" cy="10691999"/>
          </a:xfrm>
          <a:custGeom>
            <a:avLst/>
            <a:gdLst/>
            <a:ahLst/>
            <a:cxnLst/>
            <a:rect l="l" t="t" r="r" b="b"/>
            <a:pathLst>
              <a:path w="7559999" h="10691999">
                <a:moveTo>
                  <a:pt x="7559999" y="10691999"/>
                </a:moveTo>
                <a:lnTo>
                  <a:pt x="0" y="10691999"/>
                </a:lnTo>
                <a:lnTo>
                  <a:pt x="0" y="0"/>
                </a:lnTo>
                <a:lnTo>
                  <a:pt x="7559999" y="0"/>
                </a:lnTo>
                <a:lnTo>
                  <a:pt x="7559999" y="10691999"/>
                </a:lnTo>
                <a:close/>
              </a:path>
            </a:pathLst>
          </a:custGeom>
          <a:solidFill>
            <a:srgbClr val="F7F9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>
            <a:off x="546100" y="723900"/>
            <a:ext cx="38100" cy="284480"/>
          </a:xfrm>
          <a:custGeom>
            <a:avLst/>
            <a:gdLst/>
            <a:ahLst/>
            <a:cxnLst/>
            <a:rect l="l" t="t" r="r" b="b"/>
            <a:pathLst>
              <a:path w="38100" h="284480">
                <a:moveTo>
                  <a:pt x="38100" y="284480"/>
                </a:moveTo>
                <a:lnTo>
                  <a:pt x="0" y="284480"/>
                </a:lnTo>
                <a:lnTo>
                  <a:pt x="0" y="0"/>
                </a:lnTo>
                <a:lnTo>
                  <a:pt x="38100" y="0"/>
                </a:lnTo>
                <a:lnTo>
                  <a:pt x="38100" y="284480"/>
                </a:lnTo>
                <a:close/>
              </a:path>
            </a:pathLst>
          </a:custGeom>
          <a:solidFill>
            <a:srgbClr val="0183C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33400" y="749300"/>
            <a:ext cx="6502400" cy="447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0" bIns="0" rtlCol="0" anchor="t" anchorCtr="0"/>
          <a:lstStyle/>
          <a:p>
            <a:pPr marL="152400" indent="0" algn="l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sz="1400" b="1" i="0" u="none" strike="noStrike">
                <a:solidFill>
                  <a:srgbClr val="0F162A"/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  <a:sym typeface="Microsoft JhengHei" panose="020B0604030504040204" charset="-120"/>
              </a:rPr>
              <a:t>2.4 依赖管理：Maven与pom.xml</a:t>
            </a:r>
            <a:endParaRPr lang="en-US" sz="1100"/>
          </a:p>
          <a:p>
            <a:pPr marL="12700" indent="0" algn="just">
              <a:lnSpc>
                <a:spcPct val="133000"/>
              </a:lnSpc>
              <a:spcBef>
                <a:spcPts val="1180"/>
              </a:spcBef>
            </a:pPr>
            <a:r>
              <a:rPr lang="en-US" sz="1100" b="0" i="0" u="none" strike="noStrike">
                <a:solidFill>
                  <a:srgbClr val="1D283B"/>
                </a:solidFill>
                <a:latin typeface="Songti SC"/>
                <a:ea typeface="Songti SC"/>
                <a:cs typeface="Songti SC"/>
                <a:sym typeface="Songti SC"/>
              </a:rPr>
              <a:t>在现代Java项目开发体系中，Maven已成为事实上的标准构建工具，其核心价值在于提供了自动化的依赖管理与项目构建能力。当我们需要在项目中集成C3P0数据库连接池以优化数据库操作性能时，无需手动下载和引入零散的Jar包，只需在项目的核心配置文件pom.xml中，通过定义依赖坐标的方式，即可让Maven自动完成所有依赖资源的下载、引入与版本管理工作。</a:t>
            </a:r>
            <a:endParaRPr lang="en-US" sz="1100" b="0" i="0" u="none" strike="noStrike">
              <a:solidFill>
                <a:srgbClr val="1D283B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00000"/>
              </a:lnSpc>
              <a:spcBef>
                <a:spcPts val="15"/>
              </a:spcBef>
            </a:pPr>
          </a:p>
          <a:p>
            <a:pPr marL="12700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1D283B"/>
                </a:solidFill>
                <a:latin typeface="Songti SC"/>
                <a:ea typeface="Songti SC"/>
                <a:cs typeface="Songti SC"/>
                <a:sym typeface="Songti SC"/>
              </a:rPr>
              <a:t>核心依赖配置实现</a:t>
            </a:r>
            <a:endParaRPr lang="en-US" sz="1200" b="1" i="0" u="none" strike="noStrike">
              <a:solidFill>
                <a:srgbClr val="1D283B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12700" indent="0" algn="just">
              <a:lnSpc>
                <a:spcPct val="133000"/>
              </a:lnSpc>
              <a:spcBef>
                <a:spcPts val="765"/>
              </a:spcBef>
            </a:pPr>
            <a:r>
              <a:rPr lang="en-US" sz="1100" b="1" i="0" u="none" strike="noStrike">
                <a:solidFill>
                  <a:srgbClr val="1D283B"/>
                </a:solidFill>
                <a:latin typeface="Songti SC"/>
                <a:ea typeface="Songti SC"/>
                <a:cs typeface="Songti SC"/>
                <a:sym typeface="Songti SC"/>
              </a:rPr>
              <a:t>基础配置结构：</a:t>
            </a:r>
            <a:r>
              <a:rPr lang="en-US" sz="1100" b="0" i="0" u="none" strike="noStrike">
                <a:solidFill>
                  <a:srgbClr val="1D283B"/>
                </a:solidFill>
                <a:latin typeface="Songti SC"/>
                <a:ea typeface="Songti SC"/>
                <a:cs typeface="Songti SC"/>
                <a:sym typeface="Songti SC"/>
              </a:rPr>
              <a:t>在pom.xml的dependencies标签内，我们需要依次引入C3P0连接池核心库、对应数据库的JDBC驱动，若为Web项目还需引入Servlet API。以MySQL环境为例，需配置com.mchange的c3p0依赖（如0.9.5.5版本）、mysql的mysql-connector-java驱动（如8.0.28版本），以及javax.servlet的servlet-api依赖。</a:t>
            </a:r>
            <a:endParaRPr lang="en-US" sz="1100" b="0" i="0" u="none" strike="noStrike">
              <a:solidFill>
                <a:srgbClr val="1D283B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12700" indent="0" algn="just">
              <a:lnSpc>
                <a:spcPct val="133000"/>
              </a:lnSpc>
              <a:spcBef>
                <a:spcPts val="875"/>
              </a:spcBef>
            </a:pPr>
            <a:r>
              <a:rPr lang="en-US" sz="1100" b="1" i="0" u="none" strike="noStrike">
                <a:solidFill>
                  <a:srgbClr val="1D283B"/>
                </a:solidFill>
                <a:latin typeface="Songti SC"/>
                <a:ea typeface="Songti SC"/>
                <a:cs typeface="Songti SC"/>
                <a:sym typeface="Songti SC"/>
              </a:rPr>
              <a:t>关键参数解析：</a:t>
            </a:r>
            <a:r>
              <a:rPr lang="en-US" sz="1100" b="0" i="0" u="none" strike="noStrike">
                <a:solidFill>
                  <a:srgbClr val="1D283B"/>
                </a:solidFill>
                <a:latin typeface="Songti SC"/>
                <a:ea typeface="Songti SC"/>
                <a:cs typeface="Songti SC"/>
                <a:sym typeface="Songti SC"/>
              </a:rPr>
              <a:t>C3P0依赖会自动关联其底层依赖的mchange-commons-java库；JDBC驱动版本需与数据库服务端版本兼容；而Servlet API的scope属性设置为“provided”是关键，这意味着该依赖仅在编译和测试阶段生效，运行时由Web容器（如Tomcat）提供，避免出现Jar包重复引入的冲突问题。</a:t>
            </a:r>
            <a:endParaRPr lang="en-US" sz="1100" b="0" i="0" u="none" strike="noStrike">
              <a:solidFill>
                <a:srgbClr val="1D283B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12700" indent="0" algn="just">
              <a:lnSpc>
                <a:spcPct val="133000"/>
              </a:lnSpc>
              <a:spcBef>
                <a:spcPts val="885"/>
              </a:spcBef>
            </a:pPr>
            <a:r>
              <a:rPr lang="en-US" sz="1100" b="1" i="0" u="none" strike="noStrike">
                <a:solidFill>
                  <a:srgbClr val="1D283B"/>
                </a:solidFill>
                <a:latin typeface="Songti SC"/>
                <a:ea typeface="Songti SC"/>
                <a:cs typeface="Songti SC"/>
                <a:sym typeface="Songti SC"/>
              </a:rPr>
              <a:t>技术价值与实践意义：</a:t>
            </a:r>
            <a:r>
              <a:rPr lang="en-US" sz="1100" b="0" i="0" u="none" strike="noStrike">
                <a:solidFill>
                  <a:srgbClr val="1D283B"/>
                </a:solidFill>
                <a:latin typeface="Songti SC"/>
                <a:ea typeface="Songti SC"/>
                <a:cs typeface="Songti SC"/>
                <a:sym typeface="Songti SC"/>
              </a:rPr>
              <a:t>这种配置方式彻底重构了项目的依赖管理流程，将人工干预降至最低。Maven的中央仓库机制和依赖传递特性，不仅解决了“Jar包地狱”的历史难题，还让项目的构建过程变得可复用、可移植。对于Java Web开发而言，规范的pom.xml配置是实现快速开发、团队协作和持续集成的重要基础。</a:t>
            </a:r>
            <a:endParaRPr lang="en-US" sz="1100" b="0" i="0" u="none" strike="noStrike">
              <a:solidFill>
                <a:srgbClr val="1D283B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33400" y="10236200"/>
            <a:ext cx="26797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25400" rIns="0" bIns="0" rtlCol="0" anchor="t" anchorCtr="0"/>
          <a:lstStyle/>
          <a:p>
            <a:pPr marL="12700" indent="0" algn="l">
              <a:lnSpc>
                <a:spcPct val="100000"/>
              </a:lnSpc>
              <a:spcBef>
                <a:spcPts val="235"/>
              </a:spcBef>
              <a:defRPr/>
            </a:pPr>
            <a:r>
              <a:rPr lang="en-US" sz="900" b="0" i="0" u="none" strike="noStrike">
                <a:solidFill>
                  <a:srgbClr val="64748A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rPr>
              <a:t>Java Web</a:t>
            </a:r>
            <a:r>
              <a:rPr lang="en-US" sz="900" b="0" i="0" u="none" strike="noStrike">
                <a:solidFill>
                  <a:srgbClr val="64748A"/>
                </a:solidFill>
                <a:latin typeface="Songti SC"/>
                <a:ea typeface="Songti SC"/>
                <a:cs typeface="Songti SC"/>
                <a:sym typeface="Songti SC"/>
              </a:rPr>
              <a:t>开发实战：数据库连接配置 — 依赖管理篇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654800" y="10236200"/>
            <a:ext cx="381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25400" rIns="0" bIns="0" rtlCol="0" anchor="t" anchorCtr="0"/>
          <a:lstStyle/>
          <a:p>
            <a:pPr marL="12700" indent="0" algn="l">
              <a:lnSpc>
                <a:spcPct val="100000"/>
              </a:lnSpc>
              <a:spcBef>
                <a:spcPts val="235"/>
              </a:spcBef>
              <a:defRPr/>
            </a:pPr>
            <a:r>
              <a:rPr lang="en-US" sz="900" b="0" i="0" u="none" strike="noStrike">
                <a:solidFill>
                  <a:srgbClr val="64748A"/>
                </a:solidFill>
                <a:latin typeface="Songti SC"/>
                <a:ea typeface="Songti SC"/>
                <a:cs typeface="Songti SC"/>
                <a:sym typeface="Songti SC"/>
              </a:rPr>
              <a:t>第 2 页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381000"/>
            <a:ext cx="1117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B3D9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对比分析：传统JDBC vs C3P0连接池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2065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为了更深刻地理解C3P0连接池的核心优势，我们将其与传统的JDBC直连方式从连接机制、资源管理、开发体验等关键维度展开全方位对比，直观呈现连接池技术在企业级Java Web开发中带来的性能飞跃与工程化价值。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2159000"/>
            <a:ext cx="11176000" cy="609600"/>
          </a:xfrm>
          <a:prstGeom prst="roundRect">
            <a:avLst>
              <a:gd name="adj" fmla="val 0"/>
            </a:avLst>
          </a:prstGeom>
          <a:solidFill>
            <a:srgbClr val="0B3D9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08000" y="2159000"/>
            <a:ext cx="2286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关键对比维度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921000" y="2159000"/>
            <a:ext cx="4254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传统JDBC直连模式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302500" y="2159000"/>
            <a:ext cx="4254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C3P0数据库连接池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08000" y="2819400"/>
            <a:ext cx="11176000" cy="5842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508000" y="2819400"/>
            <a:ext cx="2286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连接创建机制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921000" y="2819400"/>
            <a:ext cx="4254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每次请求均实时新建物理连接，网络IO与初始化开销巨大，无法应对高频请求。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302500" y="2819400"/>
            <a:ext cx="4254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系统启动时预先创建连接并放入池中，获取连接仅需内存操作，毫秒级响应。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08000" y="3429000"/>
            <a:ext cx="11176000" cy="584200"/>
          </a:xfrm>
          <a:prstGeom prst="roundRect">
            <a:avLst>
              <a:gd name="adj" fmla="val 0"/>
            </a:avLst>
          </a:prstGeom>
          <a:solidFill>
            <a:srgbClr val="F5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508000" y="3429000"/>
            <a:ext cx="2286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资源与性能表现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921000" y="3429000"/>
            <a:ext cx="4254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资源消耗极高，频繁创建销毁连接导致系统抖动；高并发下响应延迟严重。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302500" y="3429000"/>
            <a:ext cx="4254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连接复用大幅降低开销，支持动态伸缩；高并发场景下吞吐量与稳定性显著提升。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08000" y="4038600"/>
            <a:ext cx="11176000" cy="5842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508000" y="4038600"/>
            <a:ext cx="2286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开发与运维成本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921000" y="4038600"/>
            <a:ext cx="4254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硬编码配置，需手动处理驱动加载与资源关闭；连接泄漏风险高，排查难度大。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302500" y="4038600"/>
            <a:ext cx="4254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配置集中管理，工具类封装操作；自带超时回收与心跳检测，从根源规避资源泄漏。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08000" y="4826000"/>
            <a:ext cx="11176000" cy="1714500"/>
          </a:xfrm>
          <a:prstGeom prst="roundRect">
            <a:avLst>
              <a:gd name="adj" fmla="val 0"/>
            </a:avLst>
          </a:prstGeom>
          <a:solidFill>
            <a:srgbClr val="0B3D91">
              <a:alpha val="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508000" y="4826000"/>
            <a:ext cx="50800" cy="1714500"/>
          </a:xfrm>
          <a:prstGeom prst="roundRect">
            <a:avLst>
              <a:gd name="adj" fmla="val 0"/>
            </a:avLst>
          </a:prstGeom>
          <a:solidFill>
            <a:srgbClr val="EA58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98500" y="4889500"/>
            <a:ext cx="152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3D9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核心结论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5367260">
            <a:off x="1619250" y="5613430"/>
            <a:ext cx="133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B3D9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2413000" y="4889500"/>
            <a:ext cx="9017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对于需要频繁与数据库交互的企业级Java Web应用，C3P0连接池是替代传统JDBC直连的必然选择。它不仅通过连接复用解决了资源浪费问题，更通过自动化的连接管理机制（如超时回收、连接测试）消除了连接泄漏隐患。在开发层面，C3P0简化了繁琐的底层操作，让开发人员能专注于核心业务逻辑；在运行层面，它为高并发场景提供了坚实的性能底座，是构建稳定、高效后端系统不可或缺的技术组件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0"/>
          </a:xfrm>
          <a:prstGeom prst="roundRect">
            <a:avLst>
              <a:gd name="adj" fmla="val 0"/>
            </a:avLst>
          </a:prstGeom>
          <a:solidFill>
            <a:srgbClr val="0B3D9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381000" y="190500"/>
            <a:ext cx="1143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总结与最佳实践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81000" y="1270000"/>
            <a:ext cx="2755900" cy="1968500"/>
          </a:xfrm>
          <a:prstGeom prst="roundRect">
            <a:avLst>
              <a:gd name="adj" fmla="val 0"/>
            </a:avLst>
          </a:prstGeom>
          <a:solidFill>
            <a:srgbClr val="EBF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381000" y="1270000"/>
            <a:ext cx="27559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08000" y="1422400"/>
            <a:ext cx="25019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3D9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核心思想：连接复用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" y="1905000"/>
            <a:ext cx="25019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通过复用已建立的数据库物理连接，从根本上避免频繁创建和销毁连接带来的昂贵性能开销，是连接池技术解决高并发场景下资源浪费问题的核心逻辑。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263900" y="1270000"/>
            <a:ext cx="2755900" cy="1968500"/>
          </a:xfrm>
          <a:prstGeom prst="roundRect">
            <a:avLst>
              <a:gd name="adj" fmla="val 0"/>
            </a:avLst>
          </a:prstGeom>
          <a:solidFill>
            <a:srgbClr val="E6FF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263900" y="1270000"/>
            <a:ext cx="27559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390900" y="1422400"/>
            <a:ext cx="25019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64E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核心组件架构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390900" y="1905000"/>
            <a:ext cx="25019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 `ComboPooledDataSource` 作为连接池的核心载体，配合 `c3p0-config.xml` 配置文件实现参数集中管理，构建了数据源初始化与连接分发的标准技术底座。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146800" y="1270000"/>
            <a:ext cx="2755900" cy="1968500"/>
          </a:xfrm>
          <a:prstGeom prst="roundRect">
            <a:avLst>
              <a:gd name="adj" fmla="val 0"/>
            </a:avLst>
          </a:prstGeom>
          <a:solidFill>
            <a:srgbClr val="FFF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146800" y="1270000"/>
            <a:ext cx="2755900" cy="508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273800" y="1422400"/>
            <a:ext cx="25019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78350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标准操作闭环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73800" y="1905000"/>
            <a:ext cx="25019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遵循固定的开发范式：初始化数据源 → 从池中获取可用连接 → 执行业务SQL操作 → 关闭资源（归还连接至池），确保连接全生命周期的可控性。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029700" y="1270000"/>
            <a:ext cx="2755900" cy="1968500"/>
          </a:xfrm>
          <a:prstGeom prst="roundRect">
            <a:avLst>
              <a:gd name="adj" fmla="val 0"/>
            </a:avLst>
          </a:prstGeom>
          <a:solidFill>
            <a:srgbClr val="FFEB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029700" y="1270000"/>
            <a:ext cx="2755900" cy="50800"/>
          </a:xfrm>
          <a:prstGeom prst="roundRect">
            <a:avLst>
              <a:gd name="adj" fmla="val 0"/>
            </a:avLst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9156700" y="1422400"/>
            <a:ext cx="25019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技术价值收益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156700" y="1905000"/>
            <a:ext cx="25019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大幅提升数据库IO吞吐性能，实现连接资源的自动化管理，增强系统在高并发下的稳定性，同时通过标准化API大幅简化业务代码的开发复杂度。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81000" y="3429000"/>
            <a:ext cx="2222500" cy="1905000"/>
          </a:xfrm>
          <a:prstGeom prst="roundRect">
            <a:avLst>
              <a:gd name="adj" fmla="val 0"/>
            </a:avLst>
          </a:prstGeom>
          <a:solidFill>
            <a:srgbClr val="F0F4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381000" y="3429000"/>
            <a:ext cx="2222500" cy="381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444500" y="3530600"/>
            <a:ext cx="2095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合理参数调优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44500" y="4000500"/>
            <a:ext cx="2095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基于业务并发量和数据库硬件性能，动态设定 `initialPoolSize`、`maxPoolSize` 等阈值，避免资源闲置或过载。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2730500" y="3429000"/>
            <a:ext cx="2222500" cy="1905000"/>
          </a:xfrm>
          <a:prstGeom prst="roundRect">
            <a:avLst>
              <a:gd name="adj" fmla="val 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2730500" y="3429000"/>
            <a:ext cx="22225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2794000" y="3530600"/>
            <a:ext cx="2095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通用工具封装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2794000" y="4000500"/>
            <a:ext cx="2095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将连接获取、异常处理和资源释放逻辑封装为工具类，实现代码复用，减少重复劳动并统一错误处理标准。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5080000" y="3429000"/>
            <a:ext cx="2222500" cy="1905000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5080000" y="3429000"/>
            <a:ext cx="2222500" cy="38100"/>
          </a:xfrm>
          <a:prstGeom prst="roundRect">
            <a:avLst>
              <a:gd name="adj" fmla="val 0"/>
            </a:avLst>
          </a:prstGeom>
          <a:solidFill>
            <a:srgbClr val="EA58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5143500" y="3530600"/>
            <a:ext cx="2095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安全预编译执行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5143500" y="4000500"/>
            <a:ext cx="2095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强制使用 `PreparedStatement` 替代Statement，不仅能有效防御SQL注入攻击，还能利用数据库缓存机制提升执行效率。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429500" y="3429000"/>
            <a:ext cx="2222500" cy="1905000"/>
          </a:xfrm>
          <a:prstGeom prst="roundRect">
            <a:avLst>
              <a:gd name="adj" fmla="val 0"/>
            </a:avLst>
          </a:prstGeom>
          <a:solidFill>
            <a:srgbClr val="FAF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7429500" y="3429000"/>
            <a:ext cx="2222500" cy="38100"/>
          </a:xfrm>
          <a:prstGeom prst="roundRect">
            <a:avLst>
              <a:gd name="adj" fmla="val 0"/>
            </a:avLst>
          </a:prstGeom>
          <a:solidFill>
            <a:srgbClr val="7C3A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7493000" y="3530600"/>
            <a:ext cx="2095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C1D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资源严格闭环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7493000" y="4000500"/>
            <a:ext cx="2095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必须在 `finally` 代码块中显式关闭 Connection、Statement 和 ResultSet，防止连接泄漏导致的系统资源耗尽。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9779000" y="3429000"/>
            <a:ext cx="2222500" cy="1905000"/>
          </a:xfrm>
          <a:prstGeom prst="roundRect">
            <a:avLst>
              <a:gd name="adj" fmla="val 0"/>
            </a:avLst>
          </a:prstGeom>
          <a:solidFill>
            <a:srgbClr val="ECFE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9779000" y="3429000"/>
            <a:ext cx="2222500" cy="38100"/>
          </a:xfrm>
          <a:prstGeom prst="roundRect">
            <a:avLst>
              <a:gd name="adj" fmla="val 0"/>
            </a:avLst>
          </a:prstGeom>
          <a:solidFill>
            <a:srgbClr val="0891B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9842500" y="3530600"/>
            <a:ext cx="2095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5E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持续监控运维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9842500" y="4000500"/>
            <a:ext cx="2095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定期分析连接池的活跃数、等待数等指标，根据业务潮汐变化动态调整配置，确保系统在不同负载下的最优表现。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381000" y="5524500"/>
            <a:ext cx="11620500" cy="1079500"/>
          </a:xfrm>
          <a:prstGeom prst="roundRect">
            <a:avLst>
              <a:gd name="adj" fmla="val 0"/>
            </a:avLst>
          </a:prstGeom>
          <a:solidFill>
            <a:srgbClr val="1E3A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/>
        </p:nvSpPr>
        <p:spPr>
          <a:xfrm>
            <a:off x="571500" y="5613400"/>
            <a:ext cx="1123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C3P0连接池的核心机制与最佳实践，不仅是解决JavaWeb应用数据库交互性能瓶颈的关键，更是构建高可用、高并发企业级系统的重要基石。通过合理的配置与规范的开发，我们能有效平衡系统资源，显著提升应用的响应速度与运行稳定性。</a:t>
            </a:r>
            <a:endParaRPr lang="en-US" sz="1100"/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6041</Words>
  <Application>WPS 演示</Application>
  <PresentationFormat/>
  <Paragraphs>207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22" baseType="lpstr">
      <vt:lpstr>Arial</vt:lpstr>
      <vt:lpstr>宋体</vt:lpstr>
      <vt:lpstr>Wingdings</vt:lpstr>
      <vt:lpstr>Arial</vt:lpstr>
      <vt:lpstr>Noto Sans SC</vt:lpstr>
      <vt:lpstr>Consolas</vt:lpstr>
      <vt:lpstr>黑体</vt:lpstr>
      <vt:lpstr>Microsoft JhengHei</vt:lpstr>
      <vt:lpstr>Songti SC</vt:lpstr>
      <vt:lpstr>Segoe Print</vt:lpstr>
      <vt:lpstr>Palatino Linotype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Revuelto</cp:lastModifiedBy>
  <cp:revision>2</cp:revision>
  <dcterms:created xsi:type="dcterms:W3CDTF">2026-05-31T15:45:00Z</dcterms:created>
  <dcterms:modified xsi:type="dcterms:W3CDTF">2026-05-31T15:45:50Z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{"Label":"1","ContentProducer":"001191110102MACQD9K64010000","ProduceID":"7646082266925583320","ReservedCode1":"","ContentPropagator":"","PropagateID":"","ReservedCode2":""}</vt:lpwstr>
  </property>
  <property fmtid="{D5CDD505-2E9C-101B-9397-08002B2CF9AE}" pid="3" name="ICV">
    <vt:lpwstr>94F7441BFC614EF6AA4FE746499F2F86_13</vt:lpwstr>
  </property>
  <property fmtid="{D5CDD505-2E9C-101B-9397-08002B2CF9AE}" pid="4" name="KSOProductBuildVer">
    <vt:lpwstr>2052-12.1.0.17468</vt:lpwstr>
  </property>
</Properties>
</file>